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61118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ru-RU"/>
          </a:p>
        </p:txBody>
      </p:sp>
      <p:sp>
        <p:nvSpPr>
          <p:cNvPr id="3" name="Дата 2"/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61118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E2BD5122-3CB6-4559-B320-BA36643D6709}" type="datetime1">
              <a:rPr lang="en-US"/>
              <a:pPr lvl="0"/>
              <a:t>3/18/2026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3"/>
            <a:ext cx="7315200" cy="41148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Заметки 4"/>
          <p:cNvSpPr txBox="1">
            <a:spLocks noGrp="1"/>
          </p:cNvSpPr>
          <p:nvPr>
            <p:ph type="body" sz="quarter" idx="3"/>
          </p:nvPr>
        </p:nvSpPr>
        <p:spPr>
          <a:xfrm>
            <a:off x="685800" y="5867403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1580811"/>
            <a:ext cx="2971800" cy="61118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3884608" y="11580811"/>
            <a:ext cx="2971800" cy="61118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BC929995-FA38-4ED5-9F06-AFB285EB4F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3090C7DB-E605-4A4A-B911-49EC413EB066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367E8DB-6DEF-4937-9484-98BB5C1D380F}" type="slidenum"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DE02F35-1773-47BC-AF8E-B3E2228B00DB}" type="slidenum"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6AE0B58-A690-433E-9503-0796BB7019C2}" type="slidenum"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99D0A04-1DEF-49CF-9943-35994A8841B7}" type="slidenum"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6DC68D0-773A-4FA3-9EBB-E1F6A329358B}" type="slidenum"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FEE351F-1D4A-4F3A-9531-8412F475F9D8}" type="slidenum"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0D483AD-9403-42D0-8145-71BE87D6F1BD}" type="slidenum"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74046F9B-3FA0-4D6C-B10E-33944A13C8F6}" type="slidenum"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611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photograph_showcases_a_modern_minimalist_living.pn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F8F5F0">
              <a:alpha val="86000"/>
            </a:srgbClr>
          </a:solidFill>
          <a:ln w="12701" cap="flat">
            <a:solidFill>
              <a:srgbClr val="F8F5F0">
                <a:alpha val="0"/>
              </a:srgbClr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676656" y="1417320"/>
            <a:ext cx="4389120" cy="5303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FurniStyle</a:t>
            </a:r>
            <a:endParaRPr lang="en-US" sz="3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4"/>
          <p:cNvSpPr/>
          <p:nvPr/>
        </p:nvSpPr>
        <p:spPr>
          <a:xfrm>
            <a:off x="676656" y="1965960"/>
            <a:ext cx="4114800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информационная система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мебельного салона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Shape 5"/>
          <p:cNvSpPr/>
          <p:nvPr/>
        </p:nvSpPr>
        <p:spPr>
          <a:xfrm>
            <a:off x="713232" y="3127248"/>
            <a:ext cx="100584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Text 6"/>
          <p:cNvSpPr/>
          <p:nvPr/>
        </p:nvSpPr>
        <p:spPr>
          <a:xfrm>
            <a:off x="713232" y="3310128"/>
            <a:ext cx="3200400" cy="1005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Лабораторная работа 1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Вариант 6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Рассказов Алексей Александрович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Группа 4092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 7"/>
          <p:cNvSpPr/>
          <p:nvPr/>
        </p:nvSpPr>
        <p:spPr>
          <a:xfrm>
            <a:off x="713232" y="5669280"/>
            <a:ext cx="4069080" cy="411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73533A"/>
                </a:solidFill>
                <a:uFillTx/>
                <a:latin typeface="Aptos"/>
              </a:rPr>
              <a:t>Мебель, каталог, заказы, статусы и удобная работа сотрудников — в одной локальной системе.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B"/>
          </a:solidFill>
          <a:ln w="12701" cap="flat">
            <a:solidFill>
              <a:srgbClr val="F6F1E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75895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Проблема заказчика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713232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Какие сложности решает система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75720" y="384048"/>
            <a:ext cx="32004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02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880360" cy="4983480"/>
          </a:xfrm>
          <a:custGeom>
            <a:avLst>
              <a:gd name="f0" fmla="val 54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BF8F4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2746875"/>
            <a:ext cx="2331720" cy="1280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  <a:ea typeface="Aptos"/>
                <a:cs typeface="Aptos"/>
              </a:rPr>
              <a:t>В текущей системе данные о товарах и заказах не структурированы.</a:t>
            </a:r>
            <a:endParaRPr lang="ru-RU" sz="1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Aptos"/>
              <a:cs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2E2A27"/>
              </a:solidFill>
              <a:uFillTx/>
              <a:latin typeface="Aptos"/>
              <a:ea typeface="Aptos"/>
              <a:cs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  <a:ea typeface="Aptos"/>
                <a:cs typeface="Aptos"/>
              </a:rPr>
              <a:t>Сотрудники тратят больше времени на поиск информации</a:t>
            </a:r>
            <a:br>
              <a:rPr lang="en-US" sz="20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  <a:ea typeface="Aptos"/>
                <a:cs typeface="Aptos"/>
              </a:rPr>
            </a:br>
            <a:r>
              <a:rPr lang="en-US" sz="20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  <a:ea typeface="Aptos"/>
                <a:cs typeface="Aptos"/>
              </a:rPr>
              <a:t>и чаще допускают ошибки.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  <a:ea typeface="Aptos"/>
              <a:cs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2E2A27"/>
              </a:solidFill>
              <a:uFillTx/>
              <a:latin typeface="Aptos"/>
            </a:endParaRPr>
          </a:p>
        </p:txBody>
      </p:sp>
      <p:sp>
        <p:nvSpPr>
          <p:cNvPr id="9" name="Text 8"/>
          <p:cNvSpPr/>
          <p:nvPr/>
        </p:nvSpPr>
        <p:spPr>
          <a:xfrm>
            <a:off x="932688" y="5189860"/>
            <a:ext cx="2057400" cy="822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73533A"/>
                </a:solidFill>
                <a:uFillTx/>
                <a:latin typeface="Aptos"/>
              </a:rPr>
              <a:t>Нужен единый и понятный инструмент для сотрудников салона.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Shape 9"/>
          <p:cNvSpPr/>
          <p:nvPr/>
        </p:nvSpPr>
        <p:spPr>
          <a:xfrm>
            <a:off x="3886200" y="1371600"/>
            <a:ext cx="7635240" cy="914400"/>
          </a:xfrm>
          <a:custGeom>
            <a:avLst>
              <a:gd name="f0" fmla="val 1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Text 10"/>
          <p:cNvSpPr/>
          <p:nvPr/>
        </p:nvSpPr>
        <p:spPr>
          <a:xfrm>
            <a:off x="4187952" y="1737981"/>
            <a:ext cx="4114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C8B7A6"/>
                </a:solidFill>
                <a:uFillTx/>
                <a:latin typeface="Aptos"/>
              </a:rPr>
              <a:t>01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4709159" y="1692225"/>
            <a:ext cx="63093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сложно быстро определить наличие конкретной модели мебели</a:t>
            </a:r>
          </a:p>
        </p:txBody>
      </p:sp>
      <p:sp>
        <p:nvSpPr>
          <p:cNvPr id="13" name="Shape 12"/>
          <p:cNvSpPr/>
          <p:nvPr/>
        </p:nvSpPr>
        <p:spPr>
          <a:xfrm>
            <a:off x="3886200" y="2542032"/>
            <a:ext cx="7635240" cy="914400"/>
          </a:xfrm>
          <a:custGeom>
            <a:avLst>
              <a:gd name="f0" fmla="val 1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DFC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Text 13"/>
          <p:cNvSpPr/>
          <p:nvPr/>
        </p:nvSpPr>
        <p:spPr>
          <a:xfrm>
            <a:off x="4187952" y="2908413"/>
            <a:ext cx="4114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C8B7A6"/>
                </a:solidFill>
                <a:uFillTx/>
                <a:latin typeface="Aptos"/>
              </a:rPr>
              <a:t>02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4709159" y="2862657"/>
            <a:ext cx="63093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при оформлении заказов возникают ошибки</a:t>
            </a:r>
          </a:p>
        </p:txBody>
      </p:sp>
      <p:sp>
        <p:nvSpPr>
          <p:cNvPr id="16" name="Shape 15"/>
          <p:cNvSpPr/>
          <p:nvPr/>
        </p:nvSpPr>
        <p:spPr>
          <a:xfrm>
            <a:off x="3886200" y="3712463"/>
            <a:ext cx="7635240" cy="914400"/>
          </a:xfrm>
          <a:custGeom>
            <a:avLst>
              <a:gd name="f0" fmla="val 1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Text 16"/>
          <p:cNvSpPr/>
          <p:nvPr/>
        </p:nvSpPr>
        <p:spPr>
          <a:xfrm>
            <a:off x="4187952" y="4078845"/>
            <a:ext cx="4114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C8B7A6"/>
                </a:solidFill>
                <a:uFillTx/>
                <a:latin typeface="Aptos"/>
              </a:rPr>
              <a:t>03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709159" y="4033089"/>
            <a:ext cx="63093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неудобно отслеживать статусы заказов</a:t>
            </a:r>
          </a:p>
        </p:txBody>
      </p:sp>
      <p:sp>
        <p:nvSpPr>
          <p:cNvPr id="19" name="Shape 18"/>
          <p:cNvSpPr/>
          <p:nvPr/>
        </p:nvSpPr>
        <p:spPr>
          <a:xfrm>
            <a:off x="3886200" y="4882896"/>
            <a:ext cx="7635240" cy="914400"/>
          </a:xfrm>
          <a:custGeom>
            <a:avLst>
              <a:gd name="f0" fmla="val 172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DFC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Text 19"/>
          <p:cNvSpPr/>
          <p:nvPr/>
        </p:nvSpPr>
        <p:spPr>
          <a:xfrm>
            <a:off x="4187952" y="5240097"/>
            <a:ext cx="4114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C8B7A6"/>
                </a:solidFill>
                <a:uFillTx/>
                <a:latin typeface="Aptos"/>
              </a:rPr>
              <a:t>04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4709159" y="5194340"/>
            <a:ext cx="63093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новым сотрудникам сложно быстро разобраться в работе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B"/>
          </a:solidFill>
          <a:ln w="12701" cap="flat">
            <a:solidFill>
              <a:srgbClr val="F6F1E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75895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Цель проекта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713232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Какой результат должен получить заказчик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75720" y="384048"/>
            <a:ext cx="32004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03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2743200" cy="274320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1E6DA"/>
          </a:solidFill>
          <a:ln w="12701" cap="flat">
            <a:solidFill>
              <a:srgbClr val="E8DCC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62492" y="2708132"/>
            <a:ext cx="1554480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73533A"/>
                </a:solidFill>
                <a:uFillTx/>
                <a:latin typeface="Aptos Display"/>
              </a:rPr>
              <a:t>ЦЕЛЬ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 Display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77639" y="1298448"/>
            <a:ext cx="7498079" cy="548640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87952" y="1499798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3018" y="1454042"/>
            <a:ext cx="65836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5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структурировать данные о товарах и заказах</a:t>
            </a:r>
          </a:p>
        </p:txBody>
      </p:sp>
      <p:sp>
        <p:nvSpPr>
          <p:cNvPr id="12" name="Shape 10"/>
          <p:cNvSpPr/>
          <p:nvPr/>
        </p:nvSpPr>
        <p:spPr>
          <a:xfrm>
            <a:off x="3977639" y="2139696"/>
            <a:ext cx="7498079" cy="548640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87952" y="2341046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53018" y="2258568"/>
            <a:ext cx="65836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5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обеспечить быстрый доступ к информации о наличии и статусах</a:t>
            </a:r>
          </a:p>
        </p:txBody>
      </p:sp>
      <p:sp>
        <p:nvSpPr>
          <p:cNvPr id="15" name="Shape 13"/>
          <p:cNvSpPr/>
          <p:nvPr/>
        </p:nvSpPr>
        <p:spPr>
          <a:xfrm>
            <a:off x="3977639" y="2980944"/>
            <a:ext cx="7498079" cy="548640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87952" y="3182294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3136538"/>
            <a:ext cx="65836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5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снизить количество ошибок при работе с заказами</a:t>
            </a:r>
          </a:p>
        </p:txBody>
      </p:sp>
      <p:sp>
        <p:nvSpPr>
          <p:cNvPr id="18" name="Shape 16"/>
          <p:cNvSpPr/>
          <p:nvPr/>
        </p:nvSpPr>
        <p:spPr>
          <a:xfrm>
            <a:off x="3977639" y="3822191"/>
            <a:ext cx="7498079" cy="548640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87952" y="4023542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0" y="3941063"/>
            <a:ext cx="65836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5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упростить повседневную работу сотрудников</a:t>
            </a:r>
          </a:p>
        </p:txBody>
      </p:sp>
      <p:sp>
        <p:nvSpPr>
          <p:cNvPr id="21" name="Shape 19"/>
          <p:cNvSpPr/>
          <p:nvPr/>
        </p:nvSpPr>
        <p:spPr>
          <a:xfrm>
            <a:off x="3977639" y="4663440"/>
            <a:ext cx="7498079" cy="548640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4EC"/>
          </a:solidFill>
          <a:ln w="12701" cap="flat">
            <a:solidFill>
              <a:srgbClr val="D7E0C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87952" y="4864790"/>
            <a:ext cx="146304" cy="14630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7836B"/>
          </a:solidFill>
          <a:ln w="12701" cap="flat">
            <a:solidFill>
              <a:srgbClr val="77836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4828214"/>
            <a:ext cx="65836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5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обеспечить надёжность, понятность и расширяемость системы</a:t>
            </a:r>
          </a:p>
        </p:txBody>
      </p:sp>
      <p:sp>
        <p:nvSpPr>
          <p:cNvPr id="24" name="Text 22"/>
          <p:cNvSpPr/>
          <p:nvPr/>
        </p:nvSpPr>
        <p:spPr>
          <a:xfrm>
            <a:off x="822960" y="5623559"/>
            <a:ext cx="107899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1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Проект переводит мебельный салон от ручного контроля к понятному и устойчивому процессу работы.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B"/>
          </a:solidFill>
          <a:ln w="12701" cap="flat">
            <a:solidFill>
              <a:srgbClr val="F6F1E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75895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Основные сущности и связи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713232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Упрощённая модель предметной области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75720" y="384048"/>
            <a:ext cx="32004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04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1609" y="2514417"/>
            <a:ext cx="1050087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C8B7A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03409" y="2514417"/>
            <a:ext cx="1051560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C8B7A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 flipV="1">
            <a:off x="8225924" y="2514417"/>
            <a:ext cx="1013731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28575" cap="flat">
            <a:solidFill>
              <a:srgbClr val="C8B7A6"/>
            </a:solidFill>
            <a:prstDash val="solid"/>
            <a:miter/>
            <a:tailEnd type="arrow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1600200"/>
            <a:ext cx="1783080" cy="1691640"/>
          </a:xfrm>
          <a:custGeom>
            <a:avLst>
              <a:gd name="f0" fmla="val 93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11879" y="1600200"/>
            <a:ext cx="1783080" cy="1691640"/>
          </a:xfrm>
          <a:custGeom>
            <a:avLst>
              <a:gd name="f0" fmla="val 93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46520" y="1600200"/>
            <a:ext cx="1783080" cy="1691640"/>
          </a:xfrm>
          <a:custGeom>
            <a:avLst>
              <a:gd name="f0" fmla="val 93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7F0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35440" y="1600200"/>
            <a:ext cx="1783080" cy="1691640"/>
          </a:xfrm>
          <a:custGeom>
            <a:avLst>
              <a:gd name="f0" fmla="val 93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228" y="1718559"/>
            <a:ext cx="1693112" cy="33836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Товар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(FurnitureItem)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2304178"/>
            <a:ext cx="1234440" cy="731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название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категория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цена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количество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статус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92787" y="1691018"/>
            <a:ext cx="1830455" cy="4577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Позиция заказа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(OrderLine)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37974" y="2301489"/>
            <a:ext cx="1340537" cy="64760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товар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количество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снапшоты полей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84848" y="1782531"/>
            <a:ext cx="109728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73533A"/>
                </a:solidFill>
                <a:uFillTx/>
                <a:latin typeface="Aptos"/>
              </a:rPr>
              <a:t>Заказ</a:t>
            </a:r>
            <a:endParaRPr lang="en-US" sz="1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900" b="1" i="0" u="none" strike="noStrike" kern="1200" cap="none" spc="0" baseline="0">
                <a:solidFill>
                  <a:srgbClr val="73533A"/>
                </a:solidFill>
                <a:uFillTx/>
                <a:latin typeface="Aptos"/>
              </a:rPr>
              <a:t>(Order)</a:t>
            </a:r>
            <a:endParaRPr lang="en-US" sz="19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4742" y="2243617"/>
            <a:ext cx="1446644" cy="63795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клиент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список позиций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статус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64040" y="1782604"/>
            <a:ext cx="132588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Клиент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(Client)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55480" y="2441155"/>
            <a:ext cx="1143000" cy="320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имя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телефон</a:t>
            </a:r>
            <a:endParaRPr lang="en-US" sz="13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2244" y="3428890"/>
            <a:ext cx="19202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каждая позиция ссылается на конкретный товар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417" y="3428890"/>
            <a:ext cx="169164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заказ содержит несколько позиций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74437" y="3327903"/>
            <a:ext cx="150876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заказ связан с клиентом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2777" y="4160520"/>
            <a:ext cx="4872389" cy="1417320"/>
          </a:xfrm>
          <a:custGeom>
            <a:avLst>
              <a:gd name="f0" fmla="val 11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BF8F4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98206" y="4160520"/>
            <a:ext cx="4919215" cy="1417320"/>
          </a:xfrm>
          <a:custGeom>
            <a:avLst>
              <a:gd name="f0" fmla="val 111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BF8F4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15568" y="4407407"/>
            <a:ext cx="20116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Состояния заказа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15568" y="4800600"/>
            <a:ext cx="45720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73533A"/>
                </a:solidFill>
                <a:uFillTx/>
                <a:latin typeface="Aptos"/>
              </a:rPr>
              <a:t>оформлен  →  подтверждён  →  в работе  →  выполнен / отменён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46044" y="4407407"/>
            <a:ext cx="182880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Состояния товара</a:t>
            </a:r>
            <a:endParaRPr lang="en-US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46044" y="4800600"/>
            <a:ext cx="41148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>
                <a:solidFill>
                  <a:srgbClr val="73533A"/>
                </a:solidFill>
                <a:uFillTx/>
                <a:latin typeface="Aptos"/>
              </a:rPr>
              <a:t>в наличии  /  под заказ  /  отсутствует</a:t>
            </a:r>
            <a:endParaRPr lang="en-US" sz="15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B"/>
          </a:solidFill>
          <a:ln w="12701" cap="flat">
            <a:solidFill>
              <a:srgbClr val="F6F1E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75895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Реализованные возможности системы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713232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Функции для консультанта и администратора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75720" y="384048"/>
            <a:ext cx="32004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05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1261872"/>
            <a:ext cx="5440680" cy="4983480"/>
          </a:xfrm>
          <a:custGeom>
            <a:avLst>
              <a:gd name="f0" fmla="val 31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9F2"/>
          </a:solidFill>
          <a:ln w="12701" cap="flat">
            <a:solidFill>
              <a:srgbClr val="D8CABA"/>
            </a:solidFill>
            <a:prstDash val="solid"/>
            <a:miter/>
          </a:ln>
          <a:effectLst>
            <a:outerShdw dist="12698" dir="2700000" algn="tl">
              <a:srgbClr val="000000">
                <a:alpha val="8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72783" y="1261872"/>
            <a:ext cx="5257800" cy="4983480"/>
          </a:xfrm>
          <a:custGeom>
            <a:avLst>
              <a:gd name="f0" fmla="val 317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6FAF2"/>
          </a:solidFill>
          <a:ln w="12701" cap="flat">
            <a:solidFill>
              <a:srgbClr val="D3DDCA"/>
            </a:solidFill>
            <a:prstDash val="solid"/>
            <a:miter/>
          </a:ln>
          <a:effectLst>
            <a:outerShdw dist="12698" dir="2700000" algn="tl">
              <a:srgbClr val="000000">
                <a:alpha val="8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18288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73533A"/>
                </a:solidFill>
                <a:uFillTx/>
                <a:latin typeface="Aptos"/>
              </a:rPr>
              <a:t>Консультант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2093976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1984211"/>
            <a:ext cx="449884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просмотр каталога товаров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2596896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8992" y="2450409"/>
            <a:ext cx="4801807" cy="3843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поиск и фильтрация по названию и категории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" y="3099815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" y="2990051"/>
            <a:ext cx="449884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создание заказа с вводом данных клиента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" y="3602736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3492971"/>
            <a:ext cx="449884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добавление и удаление товаров из заказа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" y="4105656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78992" y="4005072"/>
            <a:ext cx="4801807" cy="29253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автоматический расчёт итоговой стоимости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4608576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78992" y="4489630"/>
            <a:ext cx="449884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подтверждение и отмена заказа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47103" y="1600200"/>
            <a:ext cx="274320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77836B"/>
                </a:solidFill>
                <a:uFillTx/>
                <a:latin typeface="Aptos"/>
              </a:rPr>
              <a:t>Администратор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47103" y="2093976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11696" y="1984211"/>
            <a:ext cx="436168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поиск и фильтрация по каталогу/заказам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47103" y="2670048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11696" y="2560283"/>
            <a:ext cx="436168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редактирование существующих товаров (цена, количество, статус товара)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47103" y="3246120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11696" y="3127174"/>
            <a:ext cx="436168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удаление ненужных товаров из каталога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47103" y="3822191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11696" y="3694066"/>
            <a:ext cx="436168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создание новых товаров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47103" y="4398264"/>
            <a:ext cx="91440" cy="914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11696" y="4288499"/>
            <a:ext cx="4361688" cy="3108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просмотр и изменение статусов заказов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8680" y="6327648"/>
            <a:ext cx="10698480" cy="18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5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Две роли — одна система: оформление заказов, контроль каталога и управление процессом выполнения.</a:t>
            </a:r>
            <a:endParaRPr lang="en-US" sz="12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B"/>
          </a:solidFill>
          <a:ln w="12701" cap="flat">
            <a:solidFill>
              <a:srgbClr val="F6F1E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20659" y="384048"/>
            <a:ext cx="75895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Внутренние механики системы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0659" y="713085"/>
            <a:ext cx="7132320" cy="164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Что делает решение надёжным и предсказуемым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75720" y="384048"/>
            <a:ext cx="32004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06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52469" y="1221583"/>
            <a:ext cx="3495101" cy="215012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4EADF"/>
          </a:solidFill>
          <a:ln w="12701" cap="flat">
            <a:solidFill>
              <a:srgbClr val="E8DCCF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92294" y="1999747"/>
            <a:ext cx="2424632" cy="59472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73533A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Надёжная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73533A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внутренняя логика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9991" y="1747454"/>
            <a:ext cx="3615363" cy="1226722"/>
          </a:xfrm>
          <a:custGeom>
            <a:avLst>
              <a:gd name="f0" fmla="val 181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7115" y="2269732"/>
            <a:ext cx="192133" cy="19213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8093" y="2003898"/>
            <a:ext cx="3067171" cy="7145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автоматическая проверка наличия товара при оформлении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2" name="Shape 19"/>
          <p:cNvSpPr/>
          <p:nvPr/>
        </p:nvSpPr>
        <p:spPr>
          <a:xfrm>
            <a:off x="4400504" y="4013621"/>
            <a:ext cx="3606183" cy="1226731"/>
          </a:xfrm>
          <a:custGeom>
            <a:avLst>
              <a:gd name="f0" fmla="val 181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4EC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3" name="Shape 20"/>
          <p:cNvSpPr/>
          <p:nvPr/>
        </p:nvSpPr>
        <p:spPr>
          <a:xfrm>
            <a:off x="4546808" y="4554260"/>
            <a:ext cx="192133" cy="19213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7836B"/>
          </a:solidFill>
          <a:ln w="12701" cap="flat">
            <a:solidFill>
              <a:srgbClr val="77836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4" name="Text 21"/>
          <p:cNvSpPr/>
          <p:nvPr/>
        </p:nvSpPr>
        <p:spPr>
          <a:xfrm>
            <a:off x="4885319" y="4453676"/>
            <a:ext cx="2810106" cy="3932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хранение каталога в базе данных (SQLite)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519991" y="4033454"/>
            <a:ext cx="3615363" cy="1226722"/>
          </a:xfrm>
          <a:custGeom>
            <a:avLst>
              <a:gd name="f0" fmla="val 181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6" name="Shape 8"/>
          <p:cNvSpPr/>
          <p:nvPr/>
        </p:nvSpPr>
        <p:spPr>
          <a:xfrm>
            <a:off x="657115" y="4555732"/>
            <a:ext cx="192133" cy="19213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7" name="Text 9"/>
          <p:cNvSpPr/>
          <p:nvPr/>
        </p:nvSpPr>
        <p:spPr>
          <a:xfrm>
            <a:off x="968084" y="4427607"/>
            <a:ext cx="2920273" cy="7512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фиксация цены и данных товара на момент заказа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2E2A27"/>
              </a:solidFill>
              <a:uFillTx/>
              <a:latin typeface="Aptos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8240984" y="4015093"/>
            <a:ext cx="3615363" cy="1226722"/>
          </a:xfrm>
          <a:custGeom>
            <a:avLst>
              <a:gd name="f0" fmla="val 181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9" name="Shape 8"/>
          <p:cNvSpPr/>
          <p:nvPr/>
        </p:nvSpPr>
        <p:spPr>
          <a:xfrm>
            <a:off x="8433191" y="4555732"/>
            <a:ext cx="192133" cy="19213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Text 9"/>
          <p:cNvSpPr/>
          <p:nvPr/>
        </p:nvSpPr>
        <p:spPr>
          <a:xfrm>
            <a:off x="8725799" y="4482690"/>
            <a:ext cx="2828467" cy="53093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защита от некорректных данных (валидация)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2E2A27"/>
              </a:solidFill>
              <a:uFillTx/>
              <a:latin typeface="Aptos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8240984" y="1747454"/>
            <a:ext cx="3615363" cy="1226722"/>
          </a:xfrm>
          <a:custGeom>
            <a:avLst>
              <a:gd name="f0" fmla="val 181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2" name="Shape 8"/>
          <p:cNvSpPr/>
          <p:nvPr/>
        </p:nvSpPr>
        <p:spPr>
          <a:xfrm>
            <a:off x="8433191" y="2269732"/>
            <a:ext cx="192133" cy="19213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Text 9"/>
          <p:cNvSpPr/>
          <p:nvPr/>
        </p:nvSpPr>
        <p:spPr>
          <a:xfrm>
            <a:off x="8725799" y="2159968"/>
            <a:ext cx="2938634" cy="59520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E2A27"/>
                </a:solidFill>
                <a:uFillTx/>
                <a:latin typeface="Aptos"/>
              </a:rPr>
              <a:t>управление остатками при подтверждении и отмене заказа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2E2A27"/>
              </a:solidFill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B"/>
          </a:solidFill>
          <a:ln w="12701" cap="flat">
            <a:solidFill>
              <a:srgbClr val="F6F1E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75895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Интерфейс оформления заказа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4"/>
          <p:cNvSpPr/>
          <p:nvPr/>
        </p:nvSpPr>
        <p:spPr>
          <a:xfrm>
            <a:off x="11475720" y="384048"/>
            <a:ext cx="32004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07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Shape 5"/>
          <p:cNvSpPr/>
          <p:nvPr/>
        </p:nvSpPr>
        <p:spPr>
          <a:xfrm>
            <a:off x="511478" y="986189"/>
            <a:ext cx="11175138" cy="5423791"/>
          </a:xfrm>
          <a:custGeom>
            <a:avLst>
              <a:gd name="f0" fmla="val 31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DFC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" name="Рисунок 27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21" y="986418"/>
            <a:ext cx="11163763" cy="548191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B"/>
          </a:solidFill>
          <a:ln w="12701" cap="flat">
            <a:solidFill>
              <a:srgbClr val="F6F1EB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3533A"/>
          </a:solidFill>
          <a:ln w="12701" cap="flat">
            <a:solidFill>
              <a:srgbClr val="73533A"/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384048"/>
            <a:ext cx="7589520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2E2A27"/>
                </a:solidFill>
                <a:uFillTx/>
                <a:latin typeface="Aptos Display" pitchFamily="34"/>
                <a:ea typeface="Aptos Display" pitchFamily="34"/>
                <a:cs typeface="Aptos Display" pitchFamily="34"/>
              </a:rPr>
              <a:t>Интерфейс администратора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 4"/>
          <p:cNvSpPr/>
          <p:nvPr/>
        </p:nvSpPr>
        <p:spPr>
          <a:xfrm>
            <a:off x="11475720" y="384048"/>
            <a:ext cx="320040" cy="20116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766E68"/>
                </a:solidFill>
                <a:uFillTx/>
                <a:latin typeface="Aptos"/>
              </a:rPr>
              <a:t>08</a:t>
            </a:r>
            <a:endParaRPr lang="en-US" sz="11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Shape 5"/>
          <p:cNvSpPr/>
          <p:nvPr/>
        </p:nvSpPr>
        <p:spPr>
          <a:xfrm>
            <a:off x="658368" y="1325880"/>
            <a:ext cx="10881360" cy="5074920"/>
          </a:xfrm>
          <a:custGeom>
            <a:avLst>
              <a:gd name="f0" fmla="val 311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DFC"/>
          </a:solidFill>
          <a:ln w="12701" cap="flat">
            <a:solidFill>
              <a:srgbClr val="DED4C9"/>
            </a:solidFill>
            <a:prstDash val="solid"/>
            <a:miter/>
          </a:ln>
          <a:effectLst>
            <a:outerShdw dist="15232" dir="2700000" algn="tl">
              <a:srgbClr val="000000">
                <a:alpha val="10000"/>
              </a:srgb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7" name="Рисунок 26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21" y="986418"/>
            <a:ext cx="11163763" cy="548191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Рисунок 27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72" y="991410"/>
            <a:ext cx="11168060" cy="547049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photograph_showcases_a_modern_minimalist_living.pn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F8F5F0">
              <a:alpha val="86000"/>
            </a:srgbClr>
          </a:solidFill>
          <a:ln w="12701" cap="flat">
            <a:solidFill>
              <a:srgbClr val="F8F5F0">
                <a:alpha val="0"/>
              </a:srgbClr>
            </a:solidFill>
            <a:prstDash val="solid"/>
            <a:miter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188503" y="2893691"/>
            <a:ext cx="5032052" cy="53035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>
                <a:solidFill>
                  <a:srgbClr val="2E2A27"/>
                </a:solidFill>
                <a:uFillTx/>
                <a:latin typeface="Aptos Display"/>
              </a:rPr>
              <a:t>Спасибо за внимание</a:t>
            </a:r>
            <a:endParaRPr lang="en-US" sz="4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Widescreen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FurniStyle - информационная система мебельного салона</dc:title>
  <dc:subject>FurniStyle</dc:subject>
  <dc:creator>OpenAI</dc:creator>
  <cp:lastModifiedBy>word</cp:lastModifiedBy>
  <cp:revision>265</cp:revision>
  <dcterms:created xsi:type="dcterms:W3CDTF">2026-03-18T07:36:00Z</dcterms:created>
  <dcterms:modified xsi:type="dcterms:W3CDTF">2026-03-18T16:10:40Z</dcterms:modified>
</cp:coreProperties>
</file>